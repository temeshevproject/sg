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6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Переход на Microsoft 365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BDD7EE"/>
                </a:solidFill>
                <a:latin typeface="Calibri"/>
              </a:rPr>
              <a:t>Группа компаний Sergek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Варианты лицензирования и стоимость · Рекомендация для руководства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9DC3E6"/>
                </a:solidFill>
                <a:latin typeface="Calibri"/>
              </a:rPr>
              <a:t>По штатному расписанию на 16.07.2026 · Июль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6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DD7EE"/>
                </a:solidFill>
                <a:latin typeface="Calibri"/>
              </a:rPr>
              <a:t>M365 · ГК Sergek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Контекст и цель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62626"/>
                </a:solidFill>
                <a:latin typeface="Calibri"/>
              </a:rPr>
              <a:t>Компания переходит на единую корпоративную среду Microsoft 365 для всей группы.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356616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566160" cy="7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2E75B6"/>
                </a:solidFill>
                <a:latin typeface="Calibri"/>
              </a:rPr>
              <a:t>30.09.2026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Calibri"/>
              </a:rPr>
              <a:t>срок полного перехода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94560"/>
            <a:ext cx="356616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94560"/>
            <a:ext cx="3566160" cy="700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3774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548235"/>
                </a:solidFill>
                <a:latin typeface="Calibri"/>
              </a:rPr>
              <a:t>829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2461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Calibri"/>
              </a:rPr>
              <a:t>штатных единиц в группе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194560"/>
            <a:ext cx="356616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194560"/>
            <a:ext cx="3566160" cy="70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3774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1F4E78"/>
                </a:solidFill>
                <a:latin typeface="Calibri"/>
              </a:rPr>
              <a:t>575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2461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Calibri"/>
              </a:rPr>
              <a:t>сотрудников под лицензии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Лицензия каждому сотруднику подбирается по функциям должности (анализ матрицы должностей и штатного расписания).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Монтажникам, логистам и обслуживающему персоналу лицензии не требуются (254 чел.).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Подготовлено несколько бюджетных сценариев — от «по потребностям» до максимально экономичного.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6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DD7EE"/>
                </a:solidFill>
                <a:latin typeface="Calibri"/>
              </a:rPr>
              <a:t>M365 · ГК Sergek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Лицензии Microsoft 365 — кратко и доступно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Calibri"/>
              </a:rPr>
              <a:t>Лицензия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258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Calibri"/>
              </a:rPr>
              <a:t>Что даёт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3258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Calibri"/>
              </a:rPr>
              <a:t>Кому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3258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595959"/>
                </a:solidFill>
                <a:latin typeface="Calibri"/>
              </a:rPr>
              <a:t>₸/мес*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64240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90000" cy="9692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118872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Calibri"/>
              </a:rPr>
              <a:t>E5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837944"/>
            <a:ext cx="5212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Полный Office + почта + расширенная безопасность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837944"/>
            <a:ext cx="320040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Руководство, финансы, чувствительные роли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783080"/>
            <a:ext cx="137160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262626"/>
                </a:solidFill>
                <a:latin typeface="Calibri"/>
              </a:rPr>
              <a:t>27 388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62072"/>
            <a:ext cx="11064240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62072"/>
            <a:ext cx="90000" cy="9692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62072"/>
            <a:ext cx="118872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2E75B6"/>
                </a:solidFill>
                <a:latin typeface="Calibri"/>
              </a:rPr>
              <a:t>E3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916936"/>
            <a:ext cx="5212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Полный Office (на ПК) + почта + управление устройствами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916936"/>
            <a:ext cx="320040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Основная лицензия для офисных сотрудников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862072"/>
            <a:ext cx="137160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262626"/>
                </a:solidFill>
                <a:latin typeface="Calibri"/>
              </a:rPr>
              <a:t>17 298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41064"/>
            <a:ext cx="11064240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41064"/>
            <a:ext cx="90000" cy="9692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41064"/>
            <a:ext cx="118872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548235"/>
                </a:solidFill>
                <a:latin typeface="Calibri"/>
              </a:rPr>
              <a:t>F3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995928"/>
            <a:ext cx="5212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Почта + Teams + порталы + Office в браузере (без Office на ПК)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95928"/>
            <a:ext cx="320040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Frontline: операционный / полевой персонал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941064"/>
            <a:ext cx="137160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262626"/>
                </a:solidFill>
                <a:latin typeface="Calibri"/>
              </a:rPr>
              <a:t>3 844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020056"/>
            <a:ext cx="11064240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020056"/>
            <a:ext cx="90000" cy="9692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020056"/>
            <a:ext cx="118872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BF9000"/>
                </a:solidFill>
                <a:latin typeface="Calibri"/>
              </a:rPr>
              <a:t>F1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074920"/>
            <a:ext cx="5212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Только Teams и порталы, без почты и без Office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074920"/>
            <a:ext cx="320040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Минимальный доступ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5020056"/>
            <a:ext cx="137160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262626"/>
                </a:solidFill>
                <a:latin typeface="Calibri"/>
              </a:rPr>
              <a:t>1 105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* Цена за 1 лицензию в месяц, тенге с НДС 16% (по КП поставщика, скидка 15%).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6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DD7EE"/>
                </a:solidFill>
                <a:latin typeface="Calibri"/>
              </a:rPr>
              <a:t>M365 · ГК Sergek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Сравнение вариантов и приоритет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200400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Вариант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1554480"/>
            <a:ext cx="822960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55448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554480"/>
            <a:ext cx="822960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554480"/>
            <a:ext cx="822960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55448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822960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5448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554480"/>
            <a:ext cx="1097280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1554480"/>
            <a:ext cx="1097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Без лиц.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554480"/>
            <a:ext cx="2377440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55448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Стоимость / год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03120"/>
            <a:ext cx="320040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03120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</a:rPr>
              <a:t>По потребностям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2103120"/>
            <a:ext cx="82296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2103120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Calibri"/>
              </a:rPr>
              <a:t>64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103120"/>
            <a:ext cx="82296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103120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Calibri"/>
              </a:rPr>
              <a:t>354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103120"/>
            <a:ext cx="82296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2103120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Calibri"/>
              </a:rPr>
              <a:t>157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103120"/>
            <a:ext cx="82296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103120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Calibri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2103120"/>
            <a:ext cx="109728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2103120"/>
            <a:ext cx="1097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Calibri"/>
              </a:rPr>
              <a:t>254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103120"/>
            <a:ext cx="237744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2103120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Calibri"/>
              </a:rPr>
              <a:t>101,8 млн 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971800"/>
            <a:ext cx="320040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2971800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</a:rPr>
              <a:t>Вариант 1 (30–50 млн)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40" y="2971800"/>
            <a:ext cx="82296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40" y="2971800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Calibri"/>
              </a:rPr>
              <a:t>17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2971800"/>
            <a:ext cx="82296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2971800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Calibri"/>
              </a:rPr>
              <a:t>84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94960" y="2971800"/>
            <a:ext cx="82296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0" y="2971800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Calibri"/>
              </a:rPr>
              <a:t>317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971800"/>
            <a:ext cx="82296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2971800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Calibri"/>
              </a:rPr>
              <a:t>157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2971800"/>
            <a:ext cx="109728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2971800"/>
            <a:ext cx="1097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Calibri"/>
              </a:rPr>
              <a:t>254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2971800"/>
            <a:ext cx="237744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2971800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Calibri"/>
              </a:rPr>
              <a:t>39,7 млн 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840480"/>
            <a:ext cx="3200400" cy="868680"/>
          </a:xfrm>
          <a:prstGeom prst="rect">
            <a:avLst/>
          </a:prstGeom>
          <a:solidFill>
            <a:srgbClr val="DDEB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840480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Calibri"/>
              </a:rPr>
              <a:t>Вариант до 20 млн  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40" y="3840480"/>
            <a:ext cx="822960" cy="868680"/>
          </a:xfrm>
          <a:prstGeom prst="rect">
            <a:avLst/>
          </a:prstGeom>
          <a:solidFill>
            <a:srgbClr val="DDEB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9040" y="3840480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Calibri"/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3840480"/>
            <a:ext cx="822960" cy="868680"/>
          </a:xfrm>
          <a:prstGeom prst="rect">
            <a:avLst/>
          </a:prstGeom>
          <a:solidFill>
            <a:srgbClr val="DDEB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0" y="3840480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Calibri"/>
              </a:rPr>
              <a:t>56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94960" y="3840480"/>
            <a:ext cx="822960" cy="868680"/>
          </a:xfrm>
          <a:prstGeom prst="rect">
            <a:avLst/>
          </a:prstGeom>
          <a:solidFill>
            <a:srgbClr val="DDEB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0" y="3840480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Calibri"/>
              </a:rPr>
              <a:t>45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3840480"/>
            <a:ext cx="822960" cy="868680"/>
          </a:xfrm>
          <a:prstGeom prst="rect">
            <a:avLst/>
          </a:prstGeom>
          <a:solidFill>
            <a:srgbClr val="DDEB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3840480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Calibri"/>
              </a:rPr>
              <a:t>474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40880" y="3840480"/>
            <a:ext cx="1097280" cy="868680"/>
          </a:xfrm>
          <a:prstGeom prst="rect">
            <a:avLst/>
          </a:prstGeom>
          <a:solidFill>
            <a:srgbClr val="DDEB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40880" y="3840480"/>
            <a:ext cx="1097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Calibri"/>
              </a:rPr>
              <a:t>254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38160" y="3840480"/>
            <a:ext cx="2377440" cy="868680"/>
          </a:xfrm>
          <a:prstGeom prst="rect">
            <a:avLst/>
          </a:prstGeom>
          <a:solidFill>
            <a:srgbClr val="DDEB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38160" y="3840480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Calibri"/>
              </a:rPr>
              <a:t>19,99 млн 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solidFill>
            <a:srgbClr val="FB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8640" y="4892040"/>
            <a:ext cx="90000" cy="1371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50292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★ Приоритетный выбор — вариант до 20 млн ₸/год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Укладывается в бюджет, сохраняет полноценный Office (E3) для руководства, экономия ~80% относительно «по потребностям».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6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DD7EE"/>
                </a:solidFill>
                <a:latin typeface="Calibri"/>
              </a:rPr>
              <a:t>M365 · ГК Sergek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Годовая стоимость: наглядно</a:t>
            </a:r>
          </a:p>
        </p:txBody>
      </p:sp>
      <p:pic>
        <p:nvPicPr>
          <p:cNvPr id="6" name="Picture 5" descr="co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325880"/>
            <a:ext cx="10058400" cy="50857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Разница между «по потребностям» и приоритетным вариантом — около 82 млн ₸ в год.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6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DD7EE"/>
                </a:solidFill>
                <a:latin typeface="Calibri"/>
              </a:rPr>
              <a:t>M365 · ГК Sergek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Рекомендация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114300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90000" cy="1143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4E78"/>
                </a:solidFill>
                <a:latin typeface="Calibri"/>
              </a:rPr>
              <a:t>Выбрать «Вариант до 20 млн» — 19,99 млн ₸ / год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E5 — 0 · E3 — 56 · F3 — 45 · F1 — 474 · без лицензии — 254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4E78"/>
                </a:solidFill>
                <a:latin typeface="Calibri"/>
              </a:rPr>
              <a:t>•  Укладывается в целевой бюджет ≤ 20 млн ₸ в год.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E5 не используется — заменён на E3 (экономия без потери базового функционала для топ-менеджмента).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Руководство директорского уровня, финансы и ИБ получают E3 (полный Office + почта).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Прочие руководители — F3 (почта, Teams, Office в браузере); офис и frontline — F1.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548235"/>
                </a:solidFill>
                <a:latin typeface="Calibri"/>
              </a:rPr>
              <a:t>•  Экономия ~80% относительно варианта «по потребностям» (101,8 млн ₸).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При росте бюджета часть ролей (инженеры ИБ, тех-лиды) можно вернуть на E3.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6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DD7EE"/>
                </a:solidFill>
                <a:latin typeface="Calibri"/>
              </a:rPr>
              <a:t>M365 · ГК Sergek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Дорожная карта перехода — до 30.09.2026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697480" cy="64008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Этап 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269748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548235"/>
                </a:solidFill>
                <a:latin typeface="Calibri"/>
              </a:rPr>
              <a:t>до 31 июля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2423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Подготовка: бюджет, тенант M365, домены, закуп лицензий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554480"/>
            <a:ext cx="2697480" cy="6400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55448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Этап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2194560"/>
            <a:ext cx="269748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23317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1–20 августа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880360"/>
            <a:ext cx="2423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Пилот (C-level + ИТ), настройка безопасности (MFA, Intune, DLP)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554480"/>
            <a:ext cx="2697480" cy="64008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155448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Этап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2194560"/>
            <a:ext cx="269748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23317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BF9000"/>
                </a:solidFill>
                <a:latin typeface="Calibri"/>
              </a:rPr>
              <a:t>20 авг – 20 сен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880360"/>
            <a:ext cx="2423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Массовая миграция волнами: почта, данные, лицензии, обучение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97696" y="1554480"/>
            <a:ext cx="2697480" cy="6400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155448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Этап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7696" y="2194560"/>
            <a:ext cx="269748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23317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F4E78"/>
                </a:solidFill>
                <a:latin typeface="Calibri"/>
              </a:rPr>
              <a:t>20–30 сентября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880360"/>
            <a:ext cx="2423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Завершение: остатки, вывод legacy, финальный аудит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</a:rPr>
              <a:t>Следующий шаг: утвердить приоритетный вариант (≤20 млн ₸) и запустить Этап 1 — закуп лицензий и настройку тенанта.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